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60" r:id="rId5"/>
    <p:sldId id="261" r:id="rId6"/>
    <p:sldId id="263" r:id="rId7"/>
    <p:sldId id="262" r:id="rId8"/>
    <p:sldId id="264" r:id="rId9"/>
    <p:sldId id="266" r:id="rId10"/>
    <p:sldId id="271" r:id="rId11"/>
    <p:sldId id="267" r:id="rId12"/>
    <p:sldId id="268" r:id="rId13"/>
    <p:sldId id="269" r:id="rId14"/>
    <p:sldId id="270" r:id="rId15"/>
    <p:sldId id="275" r:id="rId16"/>
    <p:sldId id="276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407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lakotiSwetha" TargetMode="External"/><Relationship Id="rId3" Type="http://schemas.openxmlformats.org/officeDocument/2006/relationships/hyperlink" Target="http://www.linkedin.com/in/ashwitharasala20" TargetMode="External"/><Relationship Id="rId7" Type="http://schemas.openxmlformats.org/officeDocument/2006/relationships/hyperlink" Target="https://linkedin.com/in/swetha-kalakoti2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sanjanapriya21" TargetMode="External"/><Relationship Id="rId5" Type="http://schemas.openxmlformats.org/officeDocument/2006/relationships/hyperlink" Target="https://www.linkedin.com/in/sanjana-priya-gundoju-17ab88346?utm_source=share_via&amp;utm_content=profile&amp;utm_medium=member_android" TargetMode="External"/><Relationship Id="rId4" Type="http://schemas.openxmlformats.org/officeDocument/2006/relationships/hyperlink" Target="https://github.com/RasalaAshwith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1295C"/>
              </a:gs>
              <a:gs pos="100000">
                <a:srgbClr val="065A82"/>
              </a:gs>
            </a:gsLst>
            <a:lin ang="45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ccent Circle 1"/>
          <p:cNvSpPr/>
          <p:nvPr/>
        </p:nvSpPr>
        <p:spPr>
          <a:xfrm>
            <a:off x="-950000" y="-950000"/>
            <a:ext cx="2400000" cy="2400000"/>
          </a:xfrm>
          <a:prstGeom prst="ellipse">
            <a:avLst/>
          </a:prstGeom>
          <a:noFill/>
          <a:ln w="19050">
            <a:solidFill>
              <a:srgbClr val="1C7293">
                <a:alpha val="5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Accent Circle 2"/>
          <p:cNvSpPr/>
          <p:nvPr/>
        </p:nvSpPr>
        <p:spPr>
          <a:xfrm>
            <a:off x="10500000" y="5300000"/>
            <a:ext cx="3200000" cy="3200000"/>
          </a:xfrm>
          <a:prstGeom prst="ellipse">
            <a:avLst/>
          </a:prstGeom>
          <a:noFill/>
          <a:ln w="19050">
            <a:solidFill>
              <a:srgbClr val="1C7293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Subtitle"/>
          <p:cNvSpPr txBox="1"/>
          <p:nvPr/>
        </p:nvSpPr>
        <p:spPr>
          <a:xfrm>
            <a:off x="1140542" y="2950000"/>
            <a:ext cx="9910915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all" dirty="0">
                <a:solidFill>
                  <a:srgbClr val="9FD8E8"/>
                </a:solidFill>
                <a:latin typeface="Calibri"/>
                <a:ea typeface="Calibri"/>
                <a:cs typeface="Calibri"/>
                <a:sym typeface="Calibri"/>
              </a:rPr>
              <a:t>Project on</a:t>
            </a:r>
          </a:p>
        </p:txBody>
      </p:sp>
      <p:sp>
        <p:nvSpPr>
          <p:cNvPr id="99" name="Google Shape;99;p1"/>
          <p:cNvSpPr txBox="1"/>
          <p:nvPr/>
        </p:nvSpPr>
        <p:spPr>
          <a:xfrm>
            <a:off x="1140542" y="3600000"/>
            <a:ext cx="9910915" cy="877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IN" sz="3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2FFE-7151-C34B-CEDB-10E552D0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65A82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br>
              <a:rPr lang="en-IN" sz="2800" dirty="0">
                <a:solidFill>
                  <a:srgbClr val="065A82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6F5DE-97CA-44B4-0F0B-A86CBA52F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06" y="894736"/>
            <a:ext cx="10515600" cy="559814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800" b="1" dirty="0"/>
              <a:t>Name :</a:t>
            </a:r>
            <a:r>
              <a:rPr lang="en-US" sz="1800" dirty="0"/>
              <a:t> </a:t>
            </a:r>
            <a:r>
              <a:rPr lang="en-US" sz="1800" dirty="0">
                <a:hlinkClick r:id="rId5"/>
              </a:rPr>
              <a:t>G.Sanjana Priya</a:t>
            </a:r>
            <a:endParaRPr lang="en-US" sz="1800" dirty="0"/>
          </a:p>
          <a:p>
            <a:pPr marL="114300" lvl="0" indent="0">
              <a:buNone/>
            </a:pPr>
            <a:r>
              <a:rPr lang="en-IN" sz="1800" b="1" dirty="0"/>
              <a:t>Background:</a:t>
            </a:r>
            <a:r>
              <a:rPr lang="en-IN" sz="1800" dirty="0"/>
              <a:t> B.Tech in </a:t>
            </a:r>
            <a:r>
              <a:rPr lang="en-US" sz="1800" dirty="0"/>
              <a:t>Electronics and Communication </a:t>
            </a:r>
            <a:r>
              <a:rPr lang="en-IN" sz="1800" dirty="0"/>
              <a:t>Engineering. </a:t>
            </a:r>
          </a:p>
          <a:p>
            <a:pPr marL="114300" lvl="0" indent="0">
              <a:buNone/>
            </a:pPr>
            <a:r>
              <a:rPr lang="en-IN" sz="1800" b="1" dirty="0"/>
              <a:t>Why Data Science:</a:t>
            </a:r>
            <a:r>
              <a:rPr lang="en-IN" sz="1800" dirty="0"/>
              <a:t> I want to learn data science because  turn raw data into actionable insights that create business value.</a:t>
            </a:r>
          </a:p>
          <a:p>
            <a:pPr marL="114300" lvl="0" indent="0">
              <a:buNone/>
            </a:pPr>
            <a:r>
              <a:rPr lang="en-IN" sz="1800" b="1" dirty="0"/>
              <a:t>GitHub: </a:t>
            </a:r>
            <a:r>
              <a:rPr lang="en-IN" sz="1800" dirty="0">
                <a:hlinkClick r:id="rId6"/>
              </a:rPr>
              <a:t>https://github.com/sanjanapriya21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705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869"/>
    </mc:Choice>
    <mc:Fallback>
      <p:transition spd="slow" advTm="218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7C27-5551-2D03-4F91-34C07864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BBD3-115E-80E3-9A55-B3691E9F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2452"/>
            <a:ext cx="10515600" cy="71775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65A82"/>
                </a:solidFill>
              </a:rPr>
              <a:t>AGENDA</a:t>
            </a:r>
            <a:br>
              <a:rPr lang="en-IN" sz="2800" dirty="0">
                <a:solidFill>
                  <a:srgbClr val="065A82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5E14D-977F-3953-8594-8DE57E057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/>
          </a:bodyPr>
          <a:lstStyle/>
          <a:p>
            <a:pPr lvl="0" indent="-431800">
              <a:buSzPts val="2400"/>
            </a:pPr>
            <a:r>
              <a:rPr lang="en-US" b="1" dirty="0"/>
              <a:t>Introduction </a:t>
            </a:r>
          </a:p>
          <a:p>
            <a:pPr lvl="0" indent="-431800">
              <a:buSzPts val="2400"/>
            </a:pPr>
            <a:r>
              <a:rPr lang="en-US" b="1" dirty="0"/>
              <a:t>Objective of the Project</a:t>
            </a:r>
          </a:p>
          <a:p>
            <a:pPr lvl="0" indent="-431800">
              <a:buSzPts val="2400"/>
            </a:pPr>
            <a:r>
              <a:rPr lang="en-US" b="1" dirty="0"/>
              <a:t>ER Diagram</a:t>
            </a:r>
            <a:endParaRPr lang="en-US" dirty="0"/>
          </a:p>
          <a:p>
            <a:pPr lvl="0" indent="-431800">
              <a:buSzPts val="2400"/>
            </a:pPr>
            <a:r>
              <a:rPr lang="en-US" b="1" dirty="0"/>
              <a:t>Key analysis questions </a:t>
            </a:r>
          </a:p>
          <a:p>
            <a:pPr lvl="0" indent="-431800">
              <a:buSzPts val="2400"/>
            </a:pPr>
            <a:r>
              <a:rPr lang="en-US" b="1" dirty="0"/>
              <a:t>Conclusion</a:t>
            </a:r>
            <a:endParaRPr lang="en-US" dirty="0"/>
          </a:p>
          <a:p>
            <a:pPr lvl="0" indent="-431800">
              <a:buSzPts val="2400"/>
            </a:pPr>
            <a:r>
              <a:rPr lang="en-US" b="1" dirty="0"/>
              <a:t>Experience/Challenges working </a:t>
            </a: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4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AFDF-947F-0B24-B677-CF1D5117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20"/>
            <a:ext cx="10515600" cy="737420"/>
          </a:xfrm>
        </p:spPr>
        <p:txBody>
          <a:bodyPr/>
          <a:lstStyle/>
          <a:p>
            <a:r>
              <a:rPr lang="en-US" b="1" dirty="0">
                <a:solidFill>
                  <a:srgbClr val="065A82"/>
                </a:solidFill>
              </a:rPr>
              <a:t>INTRODUCTION </a:t>
            </a:r>
            <a:endParaRPr lang="en-IN" b="1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71A9-86C8-B9BD-E75E-AD8F36643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37419"/>
            <a:ext cx="10515600" cy="5439544"/>
          </a:xfrm>
        </p:spPr>
        <p:txBody>
          <a:bodyPr/>
          <a:lstStyle/>
          <a:p>
            <a:r>
              <a:rPr lang="en-IN" sz="2400" dirty="0"/>
              <a:t>An </a:t>
            </a:r>
            <a:r>
              <a:rPr lang="en-IN" sz="2400" b="1" dirty="0"/>
              <a:t>Employee Management System</a:t>
            </a:r>
            <a:r>
              <a:rPr lang="en-IN" sz="2400" dirty="0"/>
              <a:t> is a relational database designed to manage employee information digitally.</a:t>
            </a:r>
          </a:p>
          <a:p>
            <a:r>
              <a:rPr lang="en-IN" sz="2400" dirty="0"/>
              <a:t>Instead of maintaining employee records manually, the system stores all organizational data in a centralized SQL database.</a:t>
            </a:r>
          </a:p>
          <a:p>
            <a:r>
              <a:rPr lang="en-IN" sz="2400" dirty="0"/>
              <a:t>The database manages:</a:t>
            </a: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FF45B5-3261-A419-5F2D-5C41CB97E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52994"/>
              </p:ext>
            </p:extLst>
          </p:nvPr>
        </p:nvGraphicFramePr>
        <p:xfrm>
          <a:off x="1235587" y="2949676"/>
          <a:ext cx="8128000" cy="307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167">
                  <a:extLst>
                    <a:ext uri="{9D8B030D-6E8A-4147-A177-3AD203B41FA5}">
                      <a16:colId xmlns:a16="http://schemas.microsoft.com/office/drawing/2014/main" val="3802758402"/>
                    </a:ext>
                  </a:extLst>
                </a:gridCol>
                <a:gridCol w="4073833">
                  <a:extLst>
                    <a:ext uri="{9D8B030D-6E8A-4147-A177-3AD203B41FA5}">
                      <a16:colId xmlns:a16="http://schemas.microsoft.com/office/drawing/2014/main" val="3295203984"/>
                    </a:ext>
                  </a:extLst>
                </a:gridCol>
              </a:tblGrid>
              <a:tr h="41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Information Stored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740405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👨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Employee ID, Name, Gender, 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620012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🏢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Department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442417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💼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Job Role, Salary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684606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💰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Salary Amount, Bonus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494109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🎓 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Employee Education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16324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📝 Leaves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Leave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432946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💵 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Salary Payment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60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76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4967-08F0-9B1A-2860-58FD08A7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96F8-64BE-DAEE-FD1C-9C2F51B5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632"/>
            <a:ext cx="10515600" cy="924232"/>
          </a:xfrm>
        </p:spPr>
        <p:txBody>
          <a:bodyPr/>
          <a:lstStyle/>
          <a:p>
            <a:r>
              <a:rPr lang="en-US" b="1" dirty="0">
                <a:solidFill>
                  <a:srgbClr val="065A82"/>
                </a:solidFill>
              </a:rPr>
              <a:t>OBJECTIVE OF THE PROJECT </a:t>
            </a:r>
            <a:endParaRPr lang="en-IN" b="1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5CA7-EB50-3D8A-A0ED-C64E14419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5"/>
            <a:ext cx="10515600" cy="5105247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sz="2400" b="1" dirty="0"/>
              <a:t>Analyse employee data using SQL</a:t>
            </a:r>
            <a:r>
              <a:rPr lang="en-IN" sz="2400" dirty="0"/>
              <a:t> to generate meaningful HR and business insights.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Manage employee, department, salary, payroll, qualification, and leave records</a:t>
            </a:r>
            <a:r>
              <a:rPr lang="en-IN" sz="2400" dirty="0"/>
              <a:t> through a centralized database.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Ensure data integrity and minimize redundancy</a:t>
            </a:r>
            <a:r>
              <a:rPr lang="en-IN" sz="2400" dirty="0"/>
              <a:t> using database normalization, Primary Keys, and Foreign Keys.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Support HR decision-making</a:t>
            </a:r>
            <a:r>
              <a:rPr lang="en-IN" sz="2400" dirty="0"/>
              <a:t> by answering real-world business queries and generating accurate SQL reports.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25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4610-32E4-26F7-FBCC-9E06C4F4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65A82"/>
                </a:solidFill>
              </a:rPr>
              <a:t>ER DIAGRAM</a:t>
            </a:r>
            <a:endParaRPr lang="en-IN" sz="4000" b="1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271B2-BF60-BC2E-FBA6-44F1AE17D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E91D3-BA7C-169F-E7BE-26FADA50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9032"/>
            <a:ext cx="6843353" cy="49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7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989B-CFE4-3BD2-8224-024AEC2E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1ECB-C328-B53F-8DDD-D6FA8A83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110"/>
            <a:ext cx="10515600" cy="76691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65A82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C7786-0115-03C0-0434-A67E48122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6516"/>
            <a:ext cx="10515600" cy="480044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How many employees are working in the organization?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number of employees?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total monthly salary allocation?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Who are the Top 3 employees receiving the highest total compensation (Salary + Bonus)?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qualification is most common among employees?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What are the most common reasons employees take leave?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average payroll amount?</a:t>
            </a:r>
          </a:p>
          <a:p>
            <a:pPr marL="114300" indent="0" algn="just">
              <a:buNone/>
            </a:pPr>
            <a:endParaRPr lang="en-IN" dirty="0">
              <a:solidFill>
                <a:srgbClr val="065A82"/>
              </a:solidFill>
            </a:endParaRPr>
          </a:p>
          <a:p>
            <a:pPr marL="11430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0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C6A-3A27-DAE6-8476-EDE9835C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How many employees are working in the organization?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A904C-0274-4831-D46E-E365BCFB4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59B01-987C-D98B-DFBE-9195CA32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29" y="2519954"/>
            <a:ext cx="4176122" cy="449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B9427-55C8-4FAB-F918-E00D8007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29" y="3324499"/>
            <a:ext cx="4678861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3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5A2A-C882-7ABA-666E-E20EEA22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Which department has the highest number of employees?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AE904-CF52-1CF7-FF72-08DA6BC60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48"/>
            <a:ext cx="5181600" cy="479061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B5553-B1F5-A52D-1B0F-345B03665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8" y="2001112"/>
            <a:ext cx="4625741" cy="1806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06268-1CF2-9A38-7BC5-615F0697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48" y="4047124"/>
            <a:ext cx="4656223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311B-3F69-A97D-3C84-29239058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D5A1-2ADA-B6B1-7065-3D59FF95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Which department has the highest total monthly salary allocation?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3D58-E6A6-F920-6E8B-A909F040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48"/>
            <a:ext cx="5181600" cy="479061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pPr marL="11430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53D99-4C1B-E08E-1009-0E78E19DA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69" y="2072175"/>
            <a:ext cx="5212532" cy="2202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5D28B-995D-24DD-8E47-1EA8B31F0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64" y="4422857"/>
            <a:ext cx="4747671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593B-E0C1-8004-35AA-9ACA521F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715145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Who are the Top 3 employees receiving the highest total compensation (Salary + Bonus)?</a:t>
            </a:r>
            <a:br>
              <a:rPr lang="en-IN" sz="4000" dirty="0">
                <a:solidFill>
                  <a:srgbClr val="065A82"/>
                </a:solidFill>
              </a:rPr>
            </a:br>
            <a:endParaRPr lang="en-IN" sz="4000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D49D4-5413-260A-7D6D-97A259727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763B6-6226-6A3A-3835-754A8326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13" y="2187801"/>
            <a:ext cx="6553768" cy="2482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20307-9D00-7C5B-1CC5-5FF9586D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13" y="4813927"/>
            <a:ext cx="6553768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4CF1-907D-6361-B024-08F5A90E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C06-20B2-50C2-11A1-016451A5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92" y="325101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Which qualification is most common among employees?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F77F4-EBB1-DDE8-345C-09CFF3F0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AB1F3-C031-54AA-B88B-C54C8B6D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2" y="2107108"/>
            <a:ext cx="4275190" cy="1562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439D1-B7BE-EFFE-5A98-8EB482F95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92" y="3929140"/>
            <a:ext cx="4656223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5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21DE-0923-492A-E046-4B860215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48A7-EDBF-F877-B998-633DA77F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What are the most common reasons employees take leave?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F3AE0-AD22-3E4C-035A-558B2C323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5FC27-5280-DCAE-961E-6C8EBA03F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54" y="2092853"/>
            <a:ext cx="4755292" cy="1531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31BEB6-7FC4-C5FA-1740-F2F9F933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54" y="3952722"/>
            <a:ext cx="4625741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26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EEF9-9216-64A9-B7F1-49E057A6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B7CB-F2E6-AE83-F159-B71FAD37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065A82"/>
                </a:solidFill>
              </a:rPr>
              <a:t>Which department has the highest average payroll amount?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6A7DC-8E84-521C-F2DE-93CF698E2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64139-B888-F60C-F06C-84E7D21D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56" y="2051525"/>
            <a:ext cx="4839119" cy="2263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AE19E-E653-2BE0-58EC-F62BD914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56" y="4682919"/>
            <a:ext cx="4656223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E245-F903-E325-A0B9-9E581DD1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37B8-A819-CCA7-C1D7-2E0B6F48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rgbClr val="065A82"/>
                </a:solidFill>
              </a:rPr>
              <a:t>CONCLUSION</a:t>
            </a:r>
            <a:endParaRPr lang="en-IN" sz="4000" b="1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1B0B9-B07C-6E69-0A3B-1A8368497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Developed an Employee Management System using SQL.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Managed employee, department, salary, qualification, leave, and payroll data.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Used SQL queries to generate useful business reports.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Learned database design, table relationships, JOINs, GROUP BY, and aggregate functions.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Improved problem-solving and business analysis skills.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Understood how SQL helps organizations make better HR and business decisions</a:t>
            </a:r>
            <a:r>
              <a:rPr lang="en-IN" sz="2400" dirty="0"/>
              <a:t>.</a:t>
            </a:r>
          </a:p>
          <a:p>
            <a:pPr marL="114300" indent="0">
              <a:buNone/>
            </a:pP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40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228D-39B9-9DB5-1572-46BE69DF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F4F0-024C-B7E6-6434-9CF83574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3394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65A82"/>
                </a:solidFill>
              </a:rPr>
              <a:t>EXPERIENCE/CHALLENGES WORKING </a:t>
            </a:r>
            <a:br>
              <a:rPr lang="en-US" sz="4000" dirty="0">
                <a:solidFill>
                  <a:srgbClr val="065A82"/>
                </a:solidFill>
              </a:rPr>
            </a:br>
            <a:endParaRPr lang="en-IN" sz="4000" b="1" dirty="0">
              <a:solidFill>
                <a:srgbClr val="065A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9418E-EDDB-5839-CF9B-B3652C5F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Gained hands-on experience in designing a relational database and writing SQL queries for business analysis.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Improved SQL skills by working with JOINs, GROUP BY, aggregate functions, and table relationships.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Faced challenges in designing relationships between multiple tables and ensuring data integrity using Primary and Foreign Keys.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Enhanced problem-solving skills by converting business requirements into meaningful SQL queries and reports. </a:t>
            </a:r>
          </a:p>
          <a:p>
            <a:pPr marL="114300" indent="0">
              <a:buNone/>
            </a:pP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7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065A8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607</Words>
  <Application>Microsoft Office PowerPoint</Application>
  <PresentationFormat>Widescreen</PresentationFormat>
  <Paragraphs>85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Wingdings</vt:lpstr>
      <vt:lpstr>Lato Black</vt:lpstr>
      <vt:lpstr>Libre Baskerville</vt:lpstr>
      <vt:lpstr>Office Theme</vt:lpstr>
      <vt:lpstr>PowerPoint Presentation</vt:lpstr>
      <vt:lpstr>ABOUT US </vt:lpstr>
      <vt:lpstr>AGENDA </vt:lpstr>
      <vt:lpstr>INTRODUCTION </vt:lpstr>
      <vt:lpstr>OBJECTIVE OF THE PROJECT </vt:lpstr>
      <vt:lpstr>ER DIAGRAM</vt:lpstr>
      <vt:lpstr>KEY ANALYSIS QUESTIONS</vt:lpstr>
      <vt:lpstr>How many employees are working in the organization?</vt:lpstr>
      <vt:lpstr>Which department has the highest number of employees?</vt:lpstr>
      <vt:lpstr>Which department has the highest total monthly salary allocation?</vt:lpstr>
      <vt:lpstr>Who are the Top 3 employees receiving the highest total compensation (Salary + Bonus)? </vt:lpstr>
      <vt:lpstr>Which qualification is most common among employees?</vt:lpstr>
      <vt:lpstr>What are the most common reasons employees take leave?</vt:lpstr>
      <vt:lpstr>Which department has the highest average payroll amount?</vt:lpstr>
      <vt:lpstr>CONCLUSION</vt:lpstr>
      <vt:lpstr>EXPERIENCE/CHALLENGES WORKING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gundojusanjanapriya@gmail.com</cp:lastModifiedBy>
  <cp:revision>4</cp:revision>
  <dcterms:created xsi:type="dcterms:W3CDTF">2021-02-16T05:19:01Z</dcterms:created>
  <dcterms:modified xsi:type="dcterms:W3CDTF">2026-08-19T15:52:33Z</dcterms:modified>
</cp:coreProperties>
</file>